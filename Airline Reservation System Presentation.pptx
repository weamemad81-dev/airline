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3"/>
    <p:sldId id="257" r:id="rId4"/>
    <p:sldId id="258" r:id="rId5"/>
    <p:sldId id="261" r:id="rId6"/>
    <p:sldId id="263" r:id="rId7"/>
    <p:sldId id="264" r:id="rId8"/>
    <p:sldId id="266"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tags" Target="../tags/tag1.xml"/><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1" Type="http://schemas.openxmlformats.org/officeDocument/2006/relationships/slideLayout" Target="../slideLayouts/slideLayout7.xml"/><Relationship Id="rId10" Type="http://schemas.openxmlformats.org/officeDocument/2006/relationships/image" Target="../media/image15.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image.png"/>
          <p:cNvPicPr>
            <a:picLocks noChangeAspect="1"/>
          </p:cNvPicPr>
          <p:nvPr/>
        </p:nvPicPr>
        <p:blipFill>
          <a:blip r:embed="rId1"/>
          <a:stretch>
            <a:fillRect/>
          </a:stretch>
        </p:blipFill>
        <p:spPr>
          <a:xfrm>
            <a:off x="0" y="-153670"/>
            <a:ext cx="12192000" cy="6858000"/>
          </a:xfrm>
          <a:prstGeom prst="rect">
            <a:avLst/>
          </a:prstGeom>
        </p:spPr>
      </p:pic>
      <p:pic>
        <p:nvPicPr>
          <p:cNvPr id="3" name="Picture 2" descr="image.png"/>
          <p:cNvPicPr>
            <a:picLocks noChangeAspect="1"/>
          </p:cNvPicPr>
          <p:nvPr/>
        </p:nvPicPr>
        <p:blipFill>
          <a:blip r:embed="rId2"/>
          <a:stretch>
            <a:fillRect/>
          </a:stretch>
        </p:blipFill>
        <p:spPr>
          <a:xfrm>
            <a:off x="4405312" y="1525012"/>
            <a:ext cx="3381375" cy="333375"/>
          </a:xfrm>
          <a:prstGeom prst="rect">
            <a:avLst/>
          </a:prstGeom>
        </p:spPr>
      </p:pic>
      <p:sp>
        <p:nvSpPr>
          <p:cNvPr id="4" name="TextBox 3"/>
          <p:cNvSpPr txBox="1"/>
          <p:nvPr/>
        </p:nvSpPr>
        <p:spPr>
          <a:xfrm>
            <a:off x="2985611" y="2504182"/>
            <a:ext cx="6220777" cy="1340941"/>
          </a:xfrm>
          <a:prstGeom prst="rect">
            <a:avLst/>
          </a:prstGeom>
          <a:noFill/>
        </p:spPr>
        <p:txBody>
          <a:bodyPr wrap="square" lIns="0" tIns="0" rIns="0" bIns="0" anchor="t">
            <a:spAutoFit/>
          </a:bodyPr>
          <a:lstStyle/>
          <a:p>
            <a:pPr algn="ctr">
              <a:lnSpc>
                <a:spcPts val="5280"/>
              </a:lnSpc>
            </a:pPr>
            <a:r>
              <a:rPr sz="4800" b="1" i="0" u="none">
                <a:solidFill>
                  <a:srgbClr val="FFFFFF"/>
                </a:solidFill>
                <a:latin typeface="Plus Jakarta Sans"/>
              </a:rPr>
              <a:t>Airline Reservation</a:t>
            </a:r>
            <a:r>
              <a:t>
</a:t>
            </a:r>
            <a:r>
              <a:rPr sz="4800" b="1" i="0" u="none">
                <a:solidFill>
                  <a:srgbClr val="FFFFFF"/>
                </a:solidFill>
                <a:latin typeface="Plus Jakarta Sans"/>
              </a:rPr>
              <a:t> System Architecture</a:t>
            </a:r>
            <a:endParaRPr sz="4800" b="1" i="0" u="none">
              <a:solidFill>
                <a:srgbClr val="FFFFFF"/>
              </a:solidFill>
              <a:latin typeface="Plus Jakarta Sans"/>
            </a:endParaRPr>
          </a:p>
        </p:txBody>
      </p:sp>
      <p:sp>
        <p:nvSpPr>
          <p:cNvPr id="5" name="TextBox 4"/>
          <p:cNvSpPr txBox="1"/>
          <p:nvPr/>
        </p:nvSpPr>
        <p:spPr>
          <a:xfrm>
            <a:off x="2524125" y="5026025"/>
            <a:ext cx="7143750" cy="1114425"/>
          </a:xfrm>
          <a:prstGeom prst="rect">
            <a:avLst/>
          </a:prstGeom>
          <a:noFill/>
        </p:spPr>
        <p:txBody>
          <a:bodyPr wrap="square" lIns="0" tIns="0" rIns="0" bIns="0" anchor="t">
            <a:noAutofit/>
          </a:bodyPr>
          <a:lstStyle/>
          <a:p>
            <a:pPr algn="ctr">
              <a:lnSpc>
                <a:spcPts val="2310"/>
              </a:lnSpc>
            </a:pPr>
            <a:r>
              <a:rPr sz="1650" b="0" i="0" u="none">
                <a:solidFill>
                  <a:srgbClr val="94A3B8"/>
                </a:solidFill>
                <a:latin typeface="Inter"/>
              </a:rPr>
              <a:t>A comprehensive relational database design featuring relational constraints, complex entity mappings, and advanced SQL query analysis.</a:t>
            </a:r>
            <a:endParaRPr sz="1650" b="0" i="0" u="none">
              <a:solidFill>
                <a:srgbClr val="94A3B8"/>
              </a:solidFill>
              <a:latin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7" name="White commercial airplane flying smoothly from left to right across center of frame, clean bright vibrant blue sky background, no clouds, no mountains, no buildings, no birds, no sun, solid blue color, lots of empty">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11430" y="0"/>
            <a:ext cx="12203430" cy="6844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5833"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repeatCount="indefinite" fill="remove" display="1">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6286500" y="1976437"/>
            <a:ext cx="5334000" cy="3619500"/>
          </a:xfrm>
          <a:prstGeom prst="rect">
            <a:avLst/>
          </a:prstGeom>
        </p:spPr>
      </p:pic>
      <p:sp>
        <p:nvSpPr>
          <p:cNvPr id="4" name="TextBox 3"/>
          <p:cNvSpPr txBox="1"/>
          <p:nvPr/>
        </p:nvSpPr>
        <p:spPr>
          <a:xfrm>
            <a:off x="838200" y="1976437"/>
            <a:ext cx="5067300" cy="485775"/>
          </a:xfrm>
          <a:prstGeom prst="rect">
            <a:avLst/>
          </a:prstGeom>
          <a:noFill/>
        </p:spPr>
        <p:txBody>
          <a:bodyPr wrap="square" lIns="0" tIns="0" rIns="0" bIns="0" anchor="t">
            <a:spAutoFit/>
          </a:bodyPr>
          <a:lstStyle/>
          <a:p>
            <a:pPr algn="l">
              <a:lnSpc>
                <a:spcPts val="1910"/>
              </a:lnSpc>
            </a:pPr>
            <a:r>
              <a:rPr sz="1275" b="1" i="0" u="none">
                <a:solidFill>
                  <a:srgbClr val="334155"/>
                </a:solidFill>
                <a:latin typeface="Inter"/>
              </a:rPr>
              <a:t>Airline &amp; Aircraft:</a:t>
            </a:r>
            <a:r>
              <a:rPr sz="1275" b="0" i="0" u="none">
                <a:solidFill>
                  <a:srgbClr val="334155"/>
                </a:solidFill>
                <a:latin typeface="Inter"/>
              </a:rPr>
              <a:t> Manages carrier details and fleet inventory with strictly enforced capacity metrics.</a:t>
            </a:r>
            <a:endParaRPr sz="1275" b="0" i="0" u="none">
              <a:solidFill>
                <a:srgbClr val="334155"/>
              </a:solidFill>
              <a:latin typeface="Inter"/>
            </a:endParaRPr>
          </a:p>
        </p:txBody>
      </p:sp>
      <p:sp>
        <p:nvSpPr>
          <p:cNvPr id="5" name="TextBox 4"/>
          <p:cNvSpPr txBox="1"/>
          <p:nvPr/>
        </p:nvSpPr>
        <p:spPr>
          <a:xfrm>
            <a:off x="838200" y="2595562"/>
            <a:ext cx="5067300" cy="485775"/>
          </a:xfrm>
          <a:prstGeom prst="rect">
            <a:avLst/>
          </a:prstGeom>
          <a:noFill/>
        </p:spPr>
        <p:txBody>
          <a:bodyPr wrap="square" lIns="0" tIns="0" rIns="0" bIns="0" anchor="t">
            <a:spAutoFit/>
          </a:bodyPr>
          <a:lstStyle/>
          <a:p>
            <a:pPr algn="l">
              <a:lnSpc>
                <a:spcPts val="1910"/>
              </a:lnSpc>
            </a:pPr>
            <a:r>
              <a:rPr sz="1275" b="1" i="0" u="none">
                <a:solidFill>
                  <a:srgbClr val="334155"/>
                </a:solidFill>
                <a:latin typeface="Inter"/>
              </a:rPr>
              <a:t>Airport &amp; Flight:</a:t>
            </a:r>
            <a:r>
              <a:rPr sz="1275" b="0" i="0" u="none">
                <a:solidFill>
                  <a:srgbClr val="334155"/>
                </a:solidFill>
                <a:latin typeface="Inter"/>
              </a:rPr>
              <a:t> Tracks global airport hubs along with dual flight route associations (Departure &amp; Arrival).</a:t>
            </a:r>
            <a:endParaRPr sz="1275" b="0" i="0" u="none">
              <a:solidFill>
                <a:srgbClr val="334155"/>
              </a:solidFill>
              <a:latin typeface="Inter"/>
            </a:endParaRPr>
          </a:p>
        </p:txBody>
      </p:sp>
      <p:sp>
        <p:nvSpPr>
          <p:cNvPr id="6" name="TextBox 5"/>
          <p:cNvSpPr txBox="1"/>
          <p:nvPr/>
        </p:nvSpPr>
        <p:spPr>
          <a:xfrm>
            <a:off x="838200" y="3214687"/>
            <a:ext cx="5067300" cy="485775"/>
          </a:xfrm>
          <a:prstGeom prst="rect">
            <a:avLst/>
          </a:prstGeom>
          <a:noFill/>
        </p:spPr>
        <p:txBody>
          <a:bodyPr wrap="square" lIns="0" tIns="0" rIns="0" bIns="0" anchor="t">
            <a:spAutoFit/>
          </a:bodyPr>
          <a:lstStyle/>
          <a:p>
            <a:pPr algn="l">
              <a:lnSpc>
                <a:spcPts val="1910"/>
              </a:lnSpc>
            </a:pPr>
            <a:r>
              <a:rPr sz="1275" b="1" i="0" u="none">
                <a:solidFill>
                  <a:srgbClr val="334155"/>
                </a:solidFill>
                <a:latin typeface="Inter"/>
              </a:rPr>
              <a:t>Passenger &amp; Passport:</a:t>
            </a:r>
            <a:r>
              <a:rPr sz="1275" b="0" i="0" u="none">
                <a:solidFill>
                  <a:srgbClr val="334155"/>
                </a:solidFill>
                <a:latin typeface="Inter"/>
              </a:rPr>
              <a:t> Handles passenger identification tied to single unique passport credentials.</a:t>
            </a:r>
            <a:endParaRPr sz="1275" b="0" i="0" u="none">
              <a:solidFill>
                <a:srgbClr val="334155"/>
              </a:solidFill>
              <a:latin typeface="Inter"/>
            </a:endParaRPr>
          </a:p>
        </p:txBody>
      </p:sp>
      <p:sp>
        <p:nvSpPr>
          <p:cNvPr id="7" name="TextBox 6"/>
          <p:cNvSpPr txBox="1"/>
          <p:nvPr/>
        </p:nvSpPr>
        <p:spPr>
          <a:xfrm>
            <a:off x="838200" y="3833812"/>
            <a:ext cx="5067300" cy="485775"/>
          </a:xfrm>
          <a:prstGeom prst="rect">
            <a:avLst/>
          </a:prstGeom>
          <a:noFill/>
        </p:spPr>
        <p:txBody>
          <a:bodyPr wrap="square" lIns="0" tIns="0" rIns="0" bIns="0" anchor="t">
            <a:spAutoFit/>
          </a:bodyPr>
          <a:lstStyle/>
          <a:p>
            <a:pPr algn="l">
              <a:lnSpc>
                <a:spcPts val="1910"/>
              </a:lnSpc>
            </a:pPr>
            <a:r>
              <a:rPr sz="1275" b="1" i="0" u="none">
                <a:solidFill>
                  <a:srgbClr val="334155"/>
                </a:solidFill>
                <a:latin typeface="Inter"/>
              </a:rPr>
              <a:t>Booking Engine:</a:t>
            </a:r>
            <a:r>
              <a:rPr sz="1275" b="0" i="0" u="none">
                <a:solidFill>
                  <a:srgbClr val="334155"/>
                </a:solidFill>
                <a:latin typeface="Inter"/>
              </a:rPr>
              <a:t> Integrates flight schedules with passenger reservations and transactional booking statuses.</a:t>
            </a:r>
            <a:endParaRPr sz="1275" b="0" i="0" u="none">
              <a:solidFill>
                <a:srgbClr val="334155"/>
              </a:solidFill>
              <a:latin typeface="Inter"/>
            </a:endParaRPr>
          </a:p>
        </p:txBody>
      </p:sp>
      <p:pic>
        <p:nvPicPr>
          <p:cNvPr id="8" name="Picture 7" descr="image.png"/>
          <p:cNvPicPr>
            <a:picLocks noChangeAspect="1"/>
          </p:cNvPicPr>
          <p:nvPr/>
        </p:nvPicPr>
        <p:blipFill>
          <a:blip r:embed="rId3"/>
          <a:stretch>
            <a:fillRect/>
          </a:stretch>
        </p:blipFill>
        <p:spPr>
          <a:xfrm>
            <a:off x="6286500" y="1976437"/>
            <a:ext cx="5334000" cy="3619500"/>
          </a:xfrm>
          <a:prstGeom prst="rect">
            <a:avLst/>
          </a:prstGeom>
        </p:spPr>
      </p:pic>
      <p:sp>
        <p:nvSpPr>
          <p:cNvPr id="9" name="TextBox 8"/>
          <p:cNvSpPr txBox="1"/>
          <p:nvPr/>
        </p:nvSpPr>
        <p:spPr>
          <a:xfrm>
            <a:off x="647700" y="1938337"/>
            <a:ext cx="133350" cy="342900"/>
          </a:xfrm>
          <a:prstGeom prst="rect">
            <a:avLst/>
          </a:prstGeom>
          <a:noFill/>
        </p:spPr>
        <p:txBody>
          <a:bodyPr wrap="square" lIns="0" tIns="0" rIns="0" bIns="0" anchor="t">
            <a:spAutoFit/>
          </a:bodyPr>
          <a:lstStyle/>
          <a:p>
            <a:pPr algn="l">
              <a:lnSpc>
                <a:spcPts val="2700"/>
              </a:lnSpc>
            </a:pPr>
            <a:r>
              <a:rPr sz="1800" b="0" i="0" u="none">
                <a:solidFill>
                  <a:srgbClr val="0284C7"/>
                </a:solidFill>
                <a:latin typeface="Inter"/>
              </a:rPr>
              <a:t>•</a:t>
            </a:r>
            <a:endParaRPr sz="1800" b="0" i="0" u="none">
              <a:solidFill>
                <a:srgbClr val="0284C7"/>
              </a:solidFill>
              <a:latin typeface="Inter"/>
            </a:endParaRPr>
          </a:p>
        </p:txBody>
      </p:sp>
      <p:sp>
        <p:nvSpPr>
          <p:cNvPr id="10" name="TextBox 9"/>
          <p:cNvSpPr txBox="1"/>
          <p:nvPr/>
        </p:nvSpPr>
        <p:spPr>
          <a:xfrm>
            <a:off x="647700" y="2557462"/>
            <a:ext cx="133350" cy="342900"/>
          </a:xfrm>
          <a:prstGeom prst="rect">
            <a:avLst/>
          </a:prstGeom>
          <a:noFill/>
        </p:spPr>
        <p:txBody>
          <a:bodyPr wrap="square" lIns="0" tIns="0" rIns="0" bIns="0" anchor="t">
            <a:spAutoFit/>
          </a:bodyPr>
          <a:lstStyle/>
          <a:p>
            <a:pPr algn="l">
              <a:lnSpc>
                <a:spcPts val="2700"/>
              </a:lnSpc>
            </a:pPr>
            <a:r>
              <a:rPr sz="1800" b="0" i="0" u="none">
                <a:solidFill>
                  <a:srgbClr val="0284C7"/>
                </a:solidFill>
                <a:latin typeface="Inter"/>
              </a:rPr>
              <a:t>•</a:t>
            </a:r>
            <a:endParaRPr sz="1800" b="0" i="0" u="none">
              <a:solidFill>
                <a:srgbClr val="0284C7"/>
              </a:solidFill>
              <a:latin typeface="Inter"/>
            </a:endParaRPr>
          </a:p>
        </p:txBody>
      </p:sp>
      <p:sp>
        <p:nvSpPr>
          <p:cNvPr id="11" name="TextBox 10"/>
          <p:cNvSpPr txBox="1"/>
          <p:nvPr/>
        </p:nvSpPr>
        <p:spPr>
          <a:xfrm>
            <a:off x="647700" y="3176587"/>
            <a:ext cx="133350" cy="342900"/>
          </a:xfrm>
          <a:prstGeom prst="rect">
            <a:avLst/>
          </a:prstGeom>
          <a:noFill/>
        </p:spPr>
        <p:txBody>
          <a:bodyPr wrap="square" lIns="0" tIns="0" rIns="0" bIns="0" anchor="t">
            <a:spAutoFit/>
          </a:bodyPr>
          <a:lstStyle/>
          <a:p>
            <a:pPr algn="l">
              <a:lnSpc>
                <a:spcPts val="2700"/>
              </a:lnSpc>
            </a:pPr>
            <a:r>
              <a:rPr sz="1800" b="0" i="0" u="none">
                <a:solidFill>
                  <a:srgbClr val="0284C7"/>
                </a:solidFill>
                <a:latin typeface="Inter"/>
              </a:rPr>
              <a:t>•</a:t>
            </a:r>
            <a:endParaRPr sz="1800" b="0" i="0" u="none">
              <a:solidFill>
                <a:srgbClr val="0284C7"/>
              </a:solidFill>
              <a:latin typeface="Inter"/>
            </a:endParaRPr>
          </a:p>
        </p:txBody>
      </p:sp>
      <p:sp>
        <p:nvSpPr>
          <p:cNvPr id="12" name="TextBox 11"/>
          <p:cNvSpPr txBox="1"/>
          <p:nvPr/>
        </p:nvSpPr>
        <p:spPr>
          <a:xfrm>
            <a:off x="647700" y="3795712"/>
            <a:ext cx="133350" cy="342900"/>
          </a:xfrm>
          <a:prstGeom prst="rect">
            <a:avLst/>
          </a:prstGeom>
          <a:noFill/>
        </p:spPr>
        <p:txBody>
          <a:bodyPr wrap="square" lIns="0" tIns="0" rIns="0" bIns="0" anchor="t">
            <a:spAutoFit/>
          </a:bodyPr>
          <a:lstStyle/>
          <a:p>
            <a:pPr algn="l">
              <a:lnSpc>
                <a:spcPts val="2700"/>
              </a:lnSpc>
            </a:pPr>
            <a:r>
              <a:rPr sz="1800" b="0" i="0" u="none">
                <a:solidFill>
                  <a:srgbClr val="0284C7"/>
                </a:solidFill>
                <a:latin typeface="Inter"/>
              </a:rPr>
              <a:t>•</a:t>
            </a:r>
            <a:endParaRPr sz="1800" b="0" i="0" u="none">
              <a:solidFill>
                <a:srgbClr val="0284C7"/>
              </a:solidFill>
              <a:latin typeface="Inter"/>
            </a:endParaRPr>
          </a:p>
        </p:txBody>
      </p:sp>
      <p:sp>
        <p:nvSpPr>
          <p:cNvPr id="13" name="TextBox 12"/>
          <p:cNvSpPr txBox="1"/>
          <p:nvPr/>
        </p:nvSpPr>
        <p:spPr>
          <a:xfrm>
            <a:off x="571500" y="476250"/>
            <a:ext cx="11601450" cy="428625"/>
          </a:xfrm>
          <a:prstGeom prst="rect">
            <a:avLst/>
          </a:prstGeom>
          <a:noFill/>
        </p:spPr>
        <p:txBody>
          <a:bodyPr wrap="square" lIns="0" tIns="0" rIns="0" bIns="0" anchor="t">
            <a:spAutoFit/>
          </a:bodyPr>
          <a:lstStyle/>
          <a:p>
            <a:pPr algn="l"/>
            <a:r>
              <a:rPr sz="2700" b="1" i="0" u="none">
                <a:solidFill>
                  <a:srgbClr val="0F172A"/>
                </a:solidFill>
                <a:latin typeface="Plus Jakarta Sans"/>
              </a:rPr>
              <a:t>Core System Entities</a:t>
            </a:r>
            <a:endParaRPr sz="2700" b="1" i="0" u="none">
              <a:solidFill>
                <a:srgbClr val="0F172A"/>
              </a:solidFill>
              <a:latin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2414587"/>
            <a:ext cx="3530649" cy="2743200"/>
          </a:xfrm>
          <a:prstGeom prst="rect">
            <a:avLst/>
          </a:prstGeom>
        </p:spPr>
      </p:pic>
      <p:pic>
        <p:nvPicPr>
          <p:cNvPr id="4" name="Picture 3" descr="image.png"/>
          <p:cNvPicPr>
            <a:picLocks noChangeAspect="1"/>
          </p:cNvPicPr>
          <p:nvPr/>
        </p:nvPicPr>
        <p:blipFill>
          <a:blip r:embed="rId3"/>
          <a:stretch>
            <a:fillRect/>
          </a:stretch>
        </p:blipFill>
        <p:spPr>
          <a:xfrm>
            <a:off x="4330749" y="2414587"/>
            <a:ext cx="3530649" cy="2743200"/>
          </a:xfrm>
          <a:prstGeom prst="rect">
            <a:avLst/>
          </a:prstGeom>
        </p:spPr>
      </p:pic>
      <p:pic>
        <p:nvPicPr>
          <p:cNvPr id="5" name="Picture 4" descr="image.png"/>
          <p:cNvPicPr>
            <a:picLocks noChangeAspect="1"/>
          </p:cNvPicPr>
          <p:nvPr/>
        </p:nvPicPr>
        <p:blipFill>
          <a:blip r:embed="rId4"/>
          <a:stretch>
            <a:fillRect/>
          </a:stretch>
        </p:blipFill>
        <p:spPr>
          <a:xfrm>
            <a:off x="8089999" y="2414587"/>
            <a:ext cx="3530649" cy="2743200"/>
          </a:xfrm>
          <a:prstGeom prst="rect">
            <a:avLst/>
          </a:prstGeom>
        </p:spPr>
      </p:pic>
      <p:pic>
        <p:nvPicPr>
          <p:cNvPr id="6" name="Picture 5" descr="image.png"/>
          <p:cNvPicPr>
            <a:picLocks noChangeAspect="1"/>
          </p:cNvPicPr>
          <p:nvPr/>
        </p:nvPicPr>
        <p:blipFill>
          <a:blip r:embed="rId5"/>
          <a:stretch>
            <a:fillRect/>
          </a:stretch>
        </p:blipFill>
        <p:spPr>
          <a:xfrm>
            <a:off x="847725" y="2690812"/>
            <a:ext cx="533400" cy="533400"/>
          </a:xfrm>
          <a:prstGeom prst="rect">
            <a:avLst/>
          </a:prstGeom>
        </p:spPr>
      </p:pic>
      <p:sp>
        <p:nvSpPr>
          <p:cNvPr id="7" name="TextBox 6"/>
          <p:cNvSpPr txBox="1"/>
          <p:nvPr/>
        </p:nvSpPr>
        <p:spPr>
          <a:xfrm>
            <a:off x="847725" y="3414712"/>
            <a:ext cx="3127109" cy="285750"/>
          </a:xfrm>
          <a:prstGeom prst="rect">
            <a:avLst/>
          </a:prstGeom>
          <a:noFill/>
        </p:spPr>
        <p:txBody>
          <a:bodyPr wrap="square" lIns="0" tIns="0" rIns="0" bIns="0" anchor="t">
            <a:spAutoFit/>
          </a:bodyPr>
          <a:lstStyle/>
          <a:p>
            <a:pPr algn="l"/>
            <a:r>
              <a:rPr sz="1800" b="0" i="0" u="none">
                <a:solidFill>
                  <a:srgbClr val="0F172A"/>
                </a:solidFill>
                <a:latin typeface="Plus Jakarta Sans SemiBold"/>
              </a:rPr>
              <a:t>Flight Scheduling</a:t>
            </a:r>
            <a:endParaRPr sz="1800" b="0" i="0" u="none">
              <a:solidFill>
                <a:srgbClr val="0F172A"/>
              </a:solidFill>
              <a:latin typeface="Plus Jakarta Sans SemiBold"/>
            </a:endParaRPr>
          </a:p>
        </p:txBody>
      </p:sp>
      <p:sp>
        <p:nvSpPr>
          <p:cNvPr id="8" name="TextBox 7"/>
          <p:cNvSpPr txBox="1"/>
          <p:nvPr/>
        </p:nvSpPr>
        <p:spPr>
          <a:xfrm>
            <a:off x="847725" y="3795712"/>
            <a:ext cx="2978199" cy="971550"/>
          </a:xfrm>
          <a:prstGeom prst="rect">
            <a:avLst/>
          </a:prstGeom>
          <a:noFill/>
        </p:spPr>
        <p:txBody>
          <a:bodyPr wrap="square" lIns="0" tIns="0" rIns="0" bIns="0" anchor="t">
            <a:spAutoFit/>
          </a:bodyPr>
          <a:lstStyle/>
          <a:p>
            <a:pPr algn="l">
              <a:lnSpc>
                <a:spcPts val="1910"/>
              </a:lnSpc>
            </a:pPr>
            <a:r>
              <a:rPr sz="1275" b="0" i="0" u="none">
                <a:solidFill>
                  <a:srgbClr val="334155"/>
                </a:solidFill>
                <a:latin typeface="Inter"/>
              </a:rPr>
              <a:t>Dynamic mapping of departure/arrival timestamps, carrier IDs, and aircraft allocation across international airport hubs.</a:t>
            </a:r>
            <a:endParaRPr sz="1275" b="0" i="0" u="none">
              <a:solidFill>
                <a:srgbClr val="334155"/>
              </a:solidFill>
              <a:latin typeface="Inter"/>
            </a:endParaRPr>
          </a:p>
        </p:txBody>
      </p:sp>
      <p:pic>
        <p:nvPicPr>
          <p:cNvPr id="9" name="Picture 8" descr="image.png"/>
          <p:cNvPicPr>
            <a:picLocks noChangeAspect="1"/>
          </p:cNvPicPr>
          <p:nvPr/>
        </p:nvPicPr>
        <p:blipFill>
          <a:blip r:embed="rId6"/>
          <a:stretch>
            <a:fillRect/>
          </a:stretch>
        </p:blipFill>
        <p:spPr>
          <a:xfrm>
            <a:off x="4606974" y="2690812"/>
            <a:ext cx="533400" cy="533400"/>
          </a:xfrm>
          <a:prstGeom prst="rect">
            <a:avLst/>
          </a:prstGeom>
        </p:spPr>
      </p:pic>
      <p:sp>
        <p:nvSpPr>
          <p:cNvPr id="10" name="TextBox 9"/>
          <p:cNvSpPr txBox="1"/>
          <p:nvPr/>
        </p:nvSpPr>
        <p:spPr>
          <a:xfrm>
            <a:off x="4606974" y="3414712"/>
            <a:ext cx="3127109" cy="285750"/>
          </a:xfrm>
          <a:prstGeom prst="rect">
            <a:avLst/>
          </a:prstGeom>
          <a:noFill/>
        </p:spPr>
        <p:txBody>
          <a:bodyPr wrap="square" lIns="0" tIns="0" rIns="0" bIns="0" anchor="t">
            <a:spAutoFit/>
          </a:bodyPr>
          <a:lstStyle/>
          <a:p>
            <a:pPr algn="l"/>
            <a:r>
              <a:rPr sz="1800" b="0" i="0" u="none">
                <a:solidFill>
                  <a:srgbClr val="0F172A"/>
                </a:solidFill>
                <a:latin typeface="Plus Jakarta Sans SemiBold"/>
              </a:rPr>
              <a:t>Fleet Management</a:t>
            </a:r>
            <a:endParaRPr sz="1800" b="0" i="0" u="none">
              <a:solidFill>
                <a:srgbClr val="0F172A"/>
              </a:solidFill>
              <a:latin typeface="Plus Jakarta Sans SemiBold"/>
            </a:endParaRPr>
          </a:p>
        </p:txBody>
      </p:sp>
      <p:sp>
        <p:nvSpPr>
          <p:cNvPr id="11" name="TextBox 10"/>
          <p:cNvSpPr txBox="1"/>
          <p:nvPr/>
        </p:nvSpPr>
        <p:spPr>
          <a:xfrm>
            <a:off x="4606974" y="3795712"/>
            <a:ext cx="2978199" cy="971550"/>
          </a:xfrm>
          <a:prstGeom prst="rect">
            <a:avLst/>
          </a:prstGeom>
          <a:noFill/>
        </p:spPr>
        <p:txBody>
          <a:bodyPr wrap="square" lIns="0" tIns="0" rIns="0" bIns="0" anchor="t">
            <a:spAutoFit/>
          </a:bodyPr>
          <a:lstStyle/>
          <a:p>
            <a:pPr algn="l">
              <a:lnSpc>
                <a:spcPts val="1910"/>
              </a:lnSpc>
            </a:pPr>
            <a:r>
              <a:rPr sz="1275" b="0" i="0" u="none">
                <a:solidFill>
                  <a:srgbClr val="334155"/>
                </a:solidFill>
                <a:latin typeface="Inter"/>
              </a:rPr>
              <a:t>Monitoring seat capacity thresholds per aircraft model to prevent overbooking and optimize payload distribution.</a:t>
            </a:r>
            <a:endParaRPr sz="1275" b="0" i="0" u="none">
              <a:solidFill>
                <a:srgbClr val="334155"/>
              </a:solidFill>
              <a:latin typeface="Inter"/>
            </a:endParaRPr>
          </a:p>
        </p:txBody>
      </p:sp>
      <p:pic>
        <p:nvPicPr>
          <p:cNvPr id="12" name="Picture 11" descr="image.png"/>
          <p:cNvPicPr>
            <a:picLocks noChangeAspect="1"/>
          </p:cNvPicPr>
          <p:nvPr/>
        </p:nvPicPr>
        <p:blipFill>
          <a:blip r:embed="rId7"/>
          <a:stretch>
            <a:fillRect/>
          </a:stretch>
        </p:blipFill>
        <p:spPr>
          <a:xfrm>
            <a:off x="8366224" y="2690812"/>
            <a:ext cx="533400" cy="533400"/>
          </a:xfrm>
          <a:prstGeom prst="rect">
            <a:avLst/>
          </a:prstGeom>
        </p:spPr>
      </p:pic>
      <p:sp>
        <p:nvSpPr>
          <p:cNvPr id="13" name="TextBox 12"/>
          <p:cNvSpPr txBox="1"/>
          <p:nvPr/>
        </p:nvSpPr>
        <p:spPr>
          <a:xfrm>
            <a:off x="8366224" y="3414712"/>
            <a:ext cx="3127109" cy="285750"/>
          </a:xfrm>
          <a:prstGeom prst="rect">
            <a:avLst/>
          </a:prstGeom>
          <a:noFill/>
        </p:spPr>
        <p:txBody>
          <a:bodyPr wrap="square" lIns="0" tIns="0" rIns="0" bIns="0" anchor="t">
            <a:spAutoFit/>
          </a:bodyPr>
          <a:lstStyle/>
          <a:p>
            <a:pPr algn="l"/>
            <a:r>
              <a:rPr sz="1800" b="0" i="0" u="none">
                <a:solidFill>
                  <a:srgbClr val="0F172A"/>
                </a:solidFill>
                <a:latin typeface="Plus Jakarta Sans SemiBold"/>
              </a:rPr>
              <a:t>Booking &amp; Ticketing</a:t>
            </a:r>
            <a:endParaRPr sz="1800" b="0" i="0" u="none">
              <a:solidFill>
                <a:srgbClr val="0F172A"/>
              </a:solidFill>
              <a:latin typeface="Plus Jakarta Sans SemiBold"/>
            </a:endParaRPr>
          </a:p>
        </p:txBody>
      </p:sp>
      <p:sp>
        <p:nvSpPr>
          <p:cNvPr id="14" name="TextBox 13"/>
          <p:cNvSpPr txBox="1"/>
          <p:nvPr/>
        </p:nvSpPr>
        <p:spPr>
          <a:xfrm>
            <a:off x="8366224" y="3795712"/>
            <a:ext cx="2978199" cy="971550"/>
          </a:xfrm>
          <a:prstGeom prst="rect">
            <a:avLst/>
          </a:prstGeom>
          <a:noFill/>
        </p:spPr>
        <p:txBody>
          <a:bodyPr wrap="square" lIns="0" tIns="0" rIns="0" bIns="0" anchor="t">
            <a:spAutoFit/>
          </a:bodyPr>
          <a:lstStyle/>
          <a:p>
            <a:pPr algn="l">
              <a:lnSpc>
                <a:spcPts val="1910"/>
              </a:lnSpc>
            </a:pPr>
            <a:r>
              <a:rPr sz="1275" b="0" i="0" u="none">
                <a:solidFill>
                  <a:srgbClr val="334155"/>
                </a:solidFill>
                <a:latin typeface="Inter"/>
              </a:rPr>
              <a:t>Real-time passenger ticket reservations connecting passenger demographic profiles with specific flight segments.</a:t>
            </a:r>
            <a:endParaRPr sz="1275" b="0" i="0" u="none">
              <a:solidFill>
                <a:srgbClr val="334155"/>
              </a:solidFill>
              <a:latin typeface="Inter"/>
            </a:endParaRPr>
          </a:p>
        </p:txBody>
      </p:sp>
      <p:pic>
        <p:nvPicPr>
          <p:cNvPr id="15" name="Picture 14" descr="image.png"/>
          <p:cNvPicPr>
            <a:picLocks noChangeAspect="1"/>
          </p:cNvPicPr>
          <p:nvPr/>
        </p:nvPicPr>
        <p:blipFill>
          <a:blip r:embed="rId8"/>
          <a:stretch>
            <a:fillRect/>
          </a:stretch>
        </p:blipFill>
        <p:spPr>
          <a:xfrm>
            <a:off x="947737" y="2824162"/>
            <a:ext cx="333375" cy="266700"/>
          </a:xfrm>
          <a:prstGeom prst="rect">
            <a:avLst/>
          </a:prstGeom>
        </p:spPr>
      </p:pic>
      <p:pic>
        <p:nvPicPr>
          <p:cNvPr id="16" name="Picture 15" descr="image.png"/>
          <p:cNvPicPr>
            <a:picLocks noChangeAspect="1"/>
          </p:cNvPicPr>
          <p:nvPr/>
        </p:nvPicPr>
        <p:blipFill>
          <a:blip r:embed="rId9"/>
          <a:stretch>
            <a:fillRect/>
          </a:stretch>
        </p:blipFill>
        <p:spPr>
          <a:xfrm>
            <a:off x="4706987" y="2824162"/>
            <a:ext cx="333375" cy="266700"/>
          </a:xfrm>
          <a:prstGeom prst="rect">
            <a:avLst/>
          </a:prstGeom>
        </p:spPr>
      </p:pic>
      <p:pic>
        <p:nvPicPr>
          <p:cNvPr id="17" name="Picture 16" descr="image.png"/>
          <p:cNvPicPr>
            <a:picLocks noChangeAspect="1"/>
          </p:cNvPicPr>
          <p:nvPr/>
        </p:nvPicPr>
        <p:blipFill>
          <a:blip r:embed="rId10"/>
          <a:stretch>
            <a:fillRect/>
          </a:stretch>
        </p:blipFill>
        <p:spPr>
          <a:xfrm>
            <a:off x="8480524" y="2824162"/>
            <a:ext cx="304800" cy="266700"/>
          </a:xfrm>
          <a:prstGeom prst="rect">
            <a:avLst/>
          </a:prstGeom>
        </p:spPr>
      </p:pic>
      <p:sp>
        <p:nvSpPr>
          <p:cNvPr id="18" name="TextBox 17"/>
          <p:cNvSpPr txBox="1"/>
          <p:nvPr/>
        </p:nvSpPr>
        <p:spPr>
          <a:xfrm>
            <a:off x="571500" y="476250"/>
            <a:ext cx="11601450" cy="428625"/>
          </a:xfrm>
          <a:prstGeom prst="rect">
            <a:avLst/>
          </a:prstGeom>
          <a:noFill/>
        </p:spPr>
        <p:txBody>
          <a:bodyPr wrap="square" lIns="0" tIns="0" rIns="0" bIns="0" anchor="t">
            <a:spAutoFit/>
          </a:bodyPr>
          <a:lstStyle/>
          <a:p>
            <a:pPr algn="l"/>
            <a:r>
              <a:rPr sz="2700" b="1" i="0" u="none">
                <a:solidFill>
                  <a:srgbClr val="0F172A"/>
                </a:solidFill>
                <a:latin typeface="Plus Jakarta Sans"/>
              </a:rPr>
              <a:t>Core System Workflows</a:t>
            </a:r>
            <a:endParaRPr sz="2700" b="1" i="0" u="none">
              <a:solidFill>
                <a:srgbClr val="0F172A"/>
              </a:solidFill>
              <a:latin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4748212"/>
            <a:ext cx="11049000" cy="457200"/>
          </a:xfrm>
          <a:prstGeom prst="rect">
            <a:avLst/>
          </a:prstGeom>
        </p:spPr>
      </p:pic>
      <p:pic>
        <p:nvPicPr>
          <p:cNvPr id="4" name="Picture 3" descr="image.png"/>
          <p:cNvPicPr>
            <a:picLocks noChangeAspect="1"/>
          </p:cNvPicPr>
          <p:nvPr/>
        </p:nvPicPr>
        <p:blipFill>
          <a:blip r:embed="rId3"/>
          <a:stretch>
            <a:fillRect/>
          </a:stretch>
        </p:blipFill>
        <p:spPr>
          <a:xfrm>
            <a:off x="571500" y="1190625"/>
            <a:ext cx="11049000" cy="5191125"/>
          </a:xfrm>
          <a:prstGeom prst="rect">
            <a:avLst/>
          </a:prstGeom>
        </p:spPr>
      </p:pic>
      <p:sp>
        <p:nvSpPr>
          <p:cNvPr id="5" name="TextBox 4"/>
          <p:cNvSpPr txBox="1"/>
          <p:nvPr/>
        </p:nvSpPr>
        <p:spPr>
          <a:xfrm>
            <a:off x="571500" y="476250"/>
            <a:ext cx="11601450" cy="428625"/>
          </a:xfrm>
          <a:prstGeom prst="rect">
            <a:avLst/>
          </a:prstGeom>
          <a:noFill/>
        </p:spPr>
        <p:txBody>
          <a:bodyPr wrap="square" lIns="0" tIns="0" rIns="0" bIns="0" anchor="t">
            <a:spAutoFit/>
          </a:bodyPr>
          <a:lstStyle/>
          <a:p>
            <a:pPr algn="l"/>
            <a:r>
              <a:rPr sz="2700" b="1" i="0" u="none">
                <a:solidFill>
                  <a:srgbClr val="0F172A"/>
                </a:solidFill>
                <a:latin typeface="Plus Jakarta Sans"/>
              </a:rPr>
              <a:t>Airline Fleet Capacity Analysis</a:t>
            </a:r>
            <a:endParaRPr sz="2700" b="1" i="0" u="none">
              <a:solidFill>
                <a:srgbClr val="0F172A"/>
              </a:solidFill>
              <a:latin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sp>
        <p:nvSpPr>
          <p:cNvPr id="3" name="TextBox 2"/>
          <p:cNvSpPr txBox="1"/>
          <p:nvPr/>
        </p:nvSpPr>
        <p:spPr>
          <a:xfrm>
            <a:off x="1590675" y="2874168"/>
            <a:ext cx="3295650" cy="1143000"/>
          </a:xfrm>
          <a:prstGeom prst="rect">
            <a:avLst/>
          </a:prstGeom>
          <a:noFill/>
        </p:spPr>
        <p:txBody>
          <a:bodyPr wrap="square" lIns="0" tIns="0" rIns="0" bIns="0" anchor="t">
            <a:spAutoFit/>
          </a:bodyPr>
          <a:lstStyle/>
          <a:p>
            <a:pPr algn="l">
              <a:lnSpc>
                <a:spcPts val="9000"/>
              </a:lnSpc>
            </a:pPr>
            <a:r>
              <a:rPr sz="9000" b="0" i="0" u="none">
                <a:solidFill>
                  <a:srgbClr val="0284C7"/>
                </a:solidFill>
                <a:latin typeface="Plus Jakarta Sans ExtraBold"/>
              </a:rPr>
              <a:t>100%</a:t>
            </a:r>
            <a:endParaRPr sz="9000" b="0" i="0" u="none">
              <a:solidFill>
                <a:srgbClr val="0284C7"/>
              </a:solidFill>
              <a:latin typeface="Plus Jakarta Sans ExtraBold"/>
            </a:endParaRPr>
          </a:p>
        </p:txBody>
      </p:sp>
      <p:sp>
        <p:nvSpPr>
          <p:cNvPr id="4" name="TextBox 3"/>
          <p:cNvSpPr txBox="1"/>
          <p:nvPr/>
        </p:nvSpPr>
        <p:spPr>
          <a:xfrm>
            <a:off x="2228850" y="4112418"/>
            <a:ext cx="2019300" cy="247650"/>
          </a:xfrm>
          <a:prstGeom prst="rect">
            <a:avLst/>
          </a:prstGeom>
          <a:noFill/>
        </p:spPr>
        <p:txBody>
          <a:bodyPr wrap="square" lIns="0" tIns="0" rIns="0" bIns="0" anchor="t">
            <a:spAutoFit/>
          </a:bodyPr>
          <a:lstStyle/>
          <a:p>
            <a:pPr algn="l"/>
            <a:r>
              <a:rPr sz="1650" b="1" i="0" u="none">
                <a:solidFill>
                  <a:srgbClr val="0F172A"/>
                </a:solidFill>
                <a:latin typeface="Inter"/>
              </a:rPr>
              <a:t>Referential Integrity</a:t>
            </a:r>
            <a:endParaRPr sz="1650" b="1" i="0" u="none">
              <a:solidFill>
                <a:srgbClr val="0F172A"/>
              </a:solidFill>
              <a:latin typeface="Inter"/>
            </a:endParaRPr>
          </a:p>
        </p:txBody>
      </p:sp>
      <p:sp>
        <p:nvSpPr>
          <p:cNvPr id="5" name="TextBox 4"/>
          <p:cNvSpPr txBox="1"/>
          <p:nvPr/>
        </p:nvSpPr>
        <p:spPr>
          <a:xfrm>
            <a:off x="6286500" y="2874168"/>
            <a:ext cx="5600700" cy="285750"/>
          </a:xfrm>
          <a:prstGeom prst="rect">
            <a:avLst/>
          </a:prstGeom>
          <a:noFill/>
        </p:spPr>
        <p:txBody>
          <a:bodyPr wrap="square" lIns="0" tIns="0" rIns="0" bIns="0" anchor="t">
            <a:spAutoFit/>
          </a:bodyPr>
          <a:lstStyle/>
          <a:p>
            <a:pPr algn="l"/>
            <a:r>
              <a:rPr sz="1800" b="0" i="0" u="none">
                <a:solidFill>
                  <a:srgbClr val="0F172A"/>
                </a:solidFill>
                <a:latin typeface="Plus Jakarta Sans SemiBold"/>
              </a:rPr>
              <a:t>Strict Data Normalization</a:t>
            </a:r>
            <a:endParaRPr sz="1800" b="0" i="0" u="none">
              <a:solidFill>
                <a:srgbClr val="0F172A"/>
              </a:solidFill>
              <a:latin typeface="Plus Jakarta Sans SemiBold"/>
            </a:endParaRPr>
          </a:p>
        </p:txBody>
      </p:sp>
      <p:sp>
        <p:nvSpPr>
          <p:cNvPr id="6" name="TextBox 5"/>
          <p:cNvSpPr txBox="1"/>
          <p:nvPr/>
        </p:nvSpPr>
        <p:spPr>
          <a:xfrm>
            <a:off x="6286500" y="3255168"/>
            <a:ext cx="5334000" cy="728662"/>
          </a:xfrm>
          <a:prstGeom prst="rect">
            <a:avLst/>
          </a:prstGeom>
          <a:noFill/>
        </p:spPr>
        <p:txBody>
          <a:bodyPr wrap="square" lIns="0" tIns="0" rIns="0" bIns="0" anchor="t">
            <a:spAutoFit/>
          </a:bodyPr>
          <a:lstStyle/>
          <a:p>
            <a:pPr algn="l">
              <a:lnSpc>
                <a:spcPts val="1910"/>
              </a:lnSpc>
            </a:pPr>
            <a:r>
              <a:rPr sz="1275" b="0" i="0" u="none">
                <a:solidFill>
                  <a:srgbClr val="334155"/>
                </a:solidFill>
                <a:latin typeface="Inter"/>
              </a:rPr>
              <a:t>By enforcing </a:t>
            </a:r>
            <a:r>
              <a:rPr sz="1275" b="0" i="0" u="none">
                <a:solidFill>
                  <a:srgbClr val="334155"/>
                </a:solidFill>
                <a:latin typeface="Inter"/>
              </a:rPr>
              <a:t>FOREIGN KEY</a:t>
            </a:r>
            <a:r>
              <a:rPr sz="1275" b="0" i="0" u="none">
                <a:solidFill>
                  <a:srgbClr val="334155"/>
                </a:solidFill>
                <a:latin typeface="Inter"/>
              </a:rPr>
              <a:t> constraints across all tables, the database strictly guarantees referential integrity, eliminating orphan booking records or invalid airport references.</a:t>
            </a:r>
            <a:endParaRPr sz="1275" b="0" i="0" u="none">
              <a:solidFill>
                <a:srgbClr val="334155"/>
              </a:solidFill>
              <a:latin typeface="Inter"/>
            </a:endParaRPr>
          </a:p>
        </p:txBody>
      </p:sp>
      <p:sp>
        <p:nvSpPr>
          <p:cNvPr id="7" name="TextBox 6"/>
          <p:cNvSpPr txBox="1"/>
          <p:nvPr/>
        </p:nvSpPr>
        <p:spPr>
          <a:xfrm>
            <a:off x="6286500" y="4098131"/>
            <a:ext cx="5334000" cy="485775"/>
          </a:xfrm>
          <a:prstGeom prst="rect">
            <a:avLst/>
          </a:prstGeom>
          <a:noFill/>
        </p:spPr>
        <p:txBody>
          <a:bodyPr wrap="square" lIns="0" tIns="0" rIns="0" bIns="0" anchor="t">
            <a:spAutoFit/>
          </a:bodyPr>
          <a:lstStyle/>
          <a:p>
            <a:pPr algn="l">
              <a:lnSpc>
                <a:spcPts val="1910"/>
              </a:lnSpc>
            </a:pPr>
            <a:r>
              <a:rPr sz="1275" b="0" i="0" u="none">
                <a:solidFill>
                  <a:srgbClr val="334155"/>
                </a:solidFill>
                <a:latin typeface="Inter"/>
              </a:rPr>
              <a:t>Auto-incrementing surrogate keys streamline primary indexing and optimize join query execution times.</a:t>
            </a:r>
            <a:endParaRPr sz="1275" b="0" i="0" u="none">
              <a:solidFill>
                <a:srgbClr val="334155"/>
              </a:solidFill>
              <a:latin typeface="Inter"/>
            </a:endParaRPr>
          </a:p>
        </p:txBody>
      </p:sp>
      <p:sp>
        <p:nvSpPr>
          <p:cNvPr id="8" name="TextBox 7"/>
          <p:cNvSpPr txBox="1"/>
          <p:nvPr/>
        </p:nvSpPr>
        <p:spPr>
          <a:xfrm>
            <a:off x="571500" y="476250"/>
            <a:ext cx="11601450" cy="428625"/>
          </a:xfrm>
          <a:prstGeom prst="rect">
            <a:avLst/>
          </a:prstGeom>
          <a:noFill/>
        </p:spPr>
        <p:txBody>
          <a:bodyPr wrap="square" lIns="0" tIns="0" rIns="0" bIns="0" anchor="t">
            <a:spAutoFit/>
          </a:bodyPr>
          <a:lstStyle/>
          <a:p>
            <a:pPr algn="l"/>
            <a:r>
              <a:rPr sz="2700" b="1" i="0" u="none">
                <a:solidFill>
                  <a:srgbClr val="0F172A"/>
                </a:solidFill>
                <a:latin typeface="Plus Jakarta Sans"/>
              </a:rPr>
              <a:t>System Performance &amp; Integrity</a:t>
            </a:r>
            <a:endParaRPr sz="2700" b="1" i="0" u="none">
              <a:solidFill>
                <a:srgbClr val="0F172A"/>
              </a:solidFill>
              <a:latin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1"/>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2"/>
          <a:stretch>
            <a:fillRect/>
          </a:stretch>
        </p:blipFill>
        <p:spPr>
          <a:xfrm>
            <a:off x="571500" y="4052887"/>
            <a:ext cx="2541240" cy="1038225"/>
          </a:xfrm>
          <a:prstGeom prst="rect">
            <a:avLst/>
          </a:prstGeom>
        </p:spPr>
      </p:pic>
      <p:pic>
        <p:nvPicPr>
          <p:cNvPr id="4" name="Picture 3" descr="image.png"/>
          <p:cNvPicPr>
            <a:picLocks noChangeAspect="1"/>
          </p:cNvPicPr>
          <p:nvPr/>
        </p:nvPicPr>
        <p:blipFill>
          <a:blip r:embed="rId3"/>
          <a:stretch>
            <a:fillRect/>
          </a:stretch>
        </p:blipFill>
        <p:spPr>
          <a:xfrm>
            <a:off x="3407419" y="2281237"/>
            <a:ext cx="2541240" cy="1238250"/>
          </a:xfrm>
          <a:prstGeom prst="rect">
            <a:avLst/>
          </a:prstGeom>
        </p:spPr>
      </p:pic>
      <p:pic>
        <p:nvPicPr>
          <p:cNvPr id="5" name="Picture 4" descr="image.png"/>
          <p:cNvPicPr>
            <a:picLocks noChangeAspect="1"/>
          </p:cNvPicPr>
          <p:nvPr/>
        </p:nvPicPr>
        <p:blipFill>
          <a:blip r:embed="rId4"/>
          <a:stretch>
            <a:fillRect/>
          </a:stretch>
        </p:blipFill>
        <p:spPr>
          <a:xfrm>
            <a:off x="6243339" y="4052887"/>
            <a:ext cx="2541240" cy="1038225"/>
          </a:xfrm>
          <a:prstGeom prst="rect">
            <a:avLst/>
          </a:prstGeom>
        </p:spPr>
      </p:pic>
      <p:pic>
        <p:nvPicPr>
          <p:cNvPr id="6" name="Picture 5" descr="image.png"/>
          <p:cNvPicPr>
            <a:picLocks noChangeAspect="1"/>
          </p:cNvPicPr>
          <p:nvPr/>
        </p:nvPicPr>
        <p:blipFill>
          <a:blip r:embed="rId5"/>
          <a:stretch>
            <a:fillRect/>
          </a:stretch>
        </p:blipFill>
        <p:spPr>
          <a:xfrm>
            <a:off x="9079259" y="2281237"/>
            <a:ext cx="2541240" cy="1238250"/>
          </a:xfrm>
          <a:prstGeom prst="rect">
            <a:avLst/>
          </a:prstGeom>
        </p:spPr>
      </p:pic>
      <p:sp>
        <p:nvSpPr>
          <p:cNvPr id="7" name="Rectangle 6"/>
          <p:cNvSpPr/>
          <p:nvPr/>
        </p:nvSpPr>
        <p:spPr>
          <a:xfrm>
            <a:off x="571500" y="3767137"/>
            <a:ext cx="110490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7992" y="4233862"/>
            <a:ext cx="2288254" cy="219075"/>
          </a:xfrm>
          <a:prstGeom prst="rect">
            <a:avLst/>
          </a:prstGeom>
          <a:noFill/>
        </p:spPr>
        <p:txBody>
          <a:bodyPr wrap="square" lIns="0" tIns="0" rIns="0" bIns="0" anchor="t">
            <a:spAutoFit/>
          </a:bodyPr>
          <a:lstStyle/>
          <a:p>
            <a:pPr algn="ctr"/>
            <a:r>
              <a:rPr sz="1350" b="0" i="0" u="none">
                <a:solidFill>
                  <a:srgbClr val="0284C7"/>
                </a:solidFill>
                <a:latin typeface="Plus Jakarta Sans SemiBold"/>
              </a:rPr>
              <a:t>Phase 1: DDL Design</a:t>
            </a:r>
            <a:endParaRPr sz="1350" b="0" i="0" u="none">
              <a:solidFill>
                <a:srgbClr val="0284C7"/>
              </a:solidFill>
              <a:latin typeface="Plus Jakarta Sans SemiBold"/>
            </a:endParaRPr>
          </a:p>
        </p:txBody>
      </p:sp>
      <p:sp>
        <p:nvSpPr>
          <p:cNvPr id="9" name="TextBox 8"/>
          <p:cNvSpPr txBox="1"/>
          <p:nvPr/>
        </p:nvSpPr>
        <p:spPr>
          <a:xfrm>
            <a:off x="752475" y="4510087"/>
            <a:ext cx="2179290" cy="400050"/>
          </a:xfrm>
          <a:prstGeom prst="rect">
            <a:avLst/>
          </a:prstGeom>
          <a:noFill/>
        </p:spPr>
        <p:txBody>
          <a:bodyPr wrap="square" lIns="0" tIns="0" rIns="0" bIns="0" anchor="t">
            <a:spAutoFit/>
          </a:bodyPr>
          <a:lstStyle/>
          <a:p>
            <a:pPr algn="ctr">
              <a:lnSpc>
                <a:spcPts val="1575"/>
              </a:lnSpc>
            </a:pPr>
            <a:r>
              <a:rPr sz="1050" b="0" i="0" u="none">
                <a:solidFill>
                  <a:srgbClr val="334155"/>
                </a:solidFill>
                <a:latin typeface="Inter"/>
              </a:rPr>
              <a:t>Creating database schema, tables, and auto-increment keys.</a:t>
            </a:r>
            <a:endParaRPr sz="1050" b="0" i="0" u="none">
              <a:solidFill>
                <a:srgbClr val="334155"/>
              </a:solidFill>
              <a:latin typeface="Inter"/>
            </a:endParaRPr>
          </a:p>
        </p:txBody>
      </p:sp>
      <p:sp>
        <p:nvSpPr>
          <p:cNvPr id="10" name="TextBox 9"/>
          <p:cNvSpPr txBox="1"/>
          <p:nvPr/>
        </p:nvSpPr>
        <p:spPr>
          <a:xfrm>
            <a:off x="3533912" y="2462212"/>
            <a:ext cx="2288254" cy="219075"/>
          </a:xfrm>
          <a:prstGeom prst="rect">
            <a:avLst/>
          </a:prstGeom>
          <a:noFill/>
        </p:spPr>
        <p:txBody>
          <a:bodyPr wrap="square" lIns="0" tIns="0" rIns="0" bIns="0" anchor="t">
            <a:spAutoFit/>
          </a:bodyPr>
          <a:lstStyle/>
          <a:p>
            <a:pPr algn="ctr"/>
            <a:r>
              <a:rPr sz="1350" b="0" i="0" u="none">
                <a:solidFill>
                  <a:srgbClr val="0284C7"/>
                </a:solidFill>
                <a:latin typeface="Plus Jakarta Sans SemiBold"/>
              </a:rPr>
              <a:t>Phase 2: Constraints</a:t>
            </a:r>
            <a:endParaRPr sz="1350" b="0" i="0" u="none">
              <a:solidFill>
                <a:srgbClr val="0284C7"/>
              </a:solidFill>
              <a:latin typeface="Plus Jakarta Sans SemiBold"/>
            </a:endParaRPr>
          </a:p>
        </p:txBody>
      </p:sp>
      <p:sp>
        <p:nvSpPr>
          <p:cNvPr id="11" name="TextBox 10"/>
          <p:cNvSpPr txBox="1"/>
          <p:nvPr/>
        </p:nvSpPr>
        <p:spPr>
          <a:xfrm>
            <a:off x="3588394" y="2738437"/>
            <a:ext cx="2179290" cy="600075"/>
          </a:xfrm>
          <a:prstGeom prst="rect">
            <a:avLst/>
          </a:prstGeom>
          <a:noFill/>
        </p:spPr>
        <p:txBody>
          <a:bodyPr wrap="square" lIns="0" tIns="0" rIns="0" bIns="0" anchor="t">
            <a:spAutoFit/>
          </a:bodyPr>
          <a:lstStyle/>
          <a:p>
            <a:pPr algn="ctr">
              <a:lnSpc>
                <a:spcPts val="1575"/>
              </a:lnSpc>
            </a:pPr>
            <a:r>
              <a:rPr sz="1050" b="0" i="0" u="none">
                <a:solidFill>
                  <a:srgbClr val="334155"/>
                </a:solidFill>
                <a:latin typeface="Inter"/>
              </a:rPr>
              <a:t>Enforcing foreign keys, unique passport rules, and non-null properties.</a:t>
            </a:r>
            <a:endParaRPr sz="1050" b="0" i="0" u="none">
              <a:solidFill>
                <a:srgbClr val="334155"/>
              </a:solidFill>
              <a:latin typeface="Inter"/>
            </a:endParaRPr>
          </a:p>
        </p:txBody>
      </p:sp>
      <p:sp>
        <p:nvSpPr>
          <p:cNvPr id="12" name="TextBox 11"/>
          <p:cNvSpPr txBox="1"/>
          <p:nvPr/>
        </p:nvSpPr>
        <p:spPr>
          <a:xfrm>
            <a:off x="6369832" y="4233862"/>
            <a:ext cx="2288254" cy="219075"/>
          </a:xfrm>
          <a:prstGeom prst="rect">
            <a:avLst/>
          </a:prstGeom>
          <a:noFill/>
        </p:spPr>
        <p:txBody>
          <a:bodyPr wrap="square" lIns="0" tIns="0" rIns="0" bIns="0" anchor="t">
            <a:spAutoFit/>
          </a:bodyPr>
          <a:lstStyle/>
          <a:p>
            <a:pPr algn="ctr"/>
            <a:r>
              <a:rPr sz="1350" b="0" i="0" u="none">
                <a:solidFill>
                  <a:srgbClr val="0284C7"/>
                </a:solidFill>
                <a:latin typeface="Plus Jakarta Sans SemiBold"/>
              </a:rPr>
              <a:t>Phase 3: DQL Analysis</a:t>
            </a:r>
            <a:endParaRPr sz="1350" b="0" i="0" u="none">
              <a:solidFill>
                <a:srgbClr val="0284C7"/>
              </a:solidFill>
              <a:latin typeface="Plus Jakarta Sans SemiBold"/>
            </a:endParaRPr>
          </a:p>
        </p:txBody>
      </p:sp>
      <p:sp>
        <p:nvSpPr>
          <p:cNvPr id="13" name="TextBox 12"/>
          <p:cNvSpPr txBox="1"/>
          <p:nvPr/>
        </p:nvSpPr>
        <p:spPr>
          <a:xfrm>
            <a:off x="6424314" y="4510087"/>
            <a:ext cx="2179290" cy="400050"/>
          </a:xfrm>
          <a:prstGeom prst="rect">
            <a:avLst/>
          </a:prstGeom>
          <a:noFill/>
        </p:spPr>
        <p:txBody>
          <a:bodyPr wrap="square" lIns="0" tIns="0" rIns="0" bIns="0" anchor="t">
            <a:spAutoFit/>
          </a:bodyPr>
          <a:lstStyle/>
          <a:p>
            <a:pPr algn="ctr">
              <a:lnSpc>
                <a:spcPts val="1575"/>
              </a:lnSpc>
            </a:pPr>
            <a:r>
              <a:rPr sz="1050" b="0" i="0" u="none">
                <a:solidFill>
                  <a:srgbClr val="334155"/>
                </a:solidFill>
                <a:latin typeface="Inter"/>
              </a:rPr>
              <a:t>Implementing joins, aggregation, and group filtering queries.</a:t>
            </a:r>
            <a:endParaRPr sz="1050" b="0" i="0" u="none">
              <a:solidFill>
                <a:srgbClr val="334155"/>
              </a:solidFill>
              <a:latin typeface="Inter"/>
            </a:endParaRPr>
          </a:p>
        </p:txBody>
      </p:sp>
      <p:sp>
        <p:nvSpPr>
          <p:cNvPr id="14" name="TextBox 13"/>
          <p:cNvSpPr txBox="1"/>
          <p:nvPr/>
        </p:nvSpPr>
        <p:spPr>
          <a:xfrm>
            <a:off x="9205752" y="2462212"/>
            <a:ext cx="2288254" cy="219075"/>
          </a:xfrm>
          <a:prstGeom prst="rect">
            <a:avLst/>
          </a:prstGeom>
          <a:noFill/>
        </p:spPr>
        <p:txBody>
          <a:bodyPr wrap="square" lIns="0" tIns="0" rIns="0" bIns="0" anchor="t">
            <a:spAutoFit/>
          </a:bodyPr>
          <a:lstStyle/>
          <a:p>
            <a:pPr algn="ctr"/>
            <a:r>
              <a:rPr sz="1350" b="0" i="0" u="none">
                <a:solidFill>
                  <a:srgbClr val="0284C7"/>
                </a:solidFill>
                <a:latin typeface="Plus Jakarta Sans SemiBold"/>
              </a:rPr>
              <a:t>Phase 4: Schema Alter</a:t>
            </a:r>
            <a:endParaRPr sz="1350" b="0" i="0" u="none">
              <a:solidFill>
                <a:srgbClr val="0284C7"/>
              </a:solidFill>
              <a:latin typeface="Plus Jakarta Sans SemiBold"/>
            </a:endParaRPr>
          </a:p>
        </p:txBody>
      </p:sp>
      <p:sp>
        <p:nvSpPr>
          <p:cNvPr id="15" name="TextBox 14"/>
          <p:cNvSpPr txBox="1"/>
          <p:nvPr/>
        </p:nvSpPr>
        <p:spPr>
          <a:xfrm>
            <a:off x="9260234" y="2738437"/>
            <a:ext cx="2179290" cy="600075"/>
          </a:xfrm>
          <a:prstGeom prst="rect">
            <a:avLst/>
          </a:prstGeom>
          <a:noFill/>
        </p:spPr>
        <p:txBody>
          <a:bodyPr wrap="square" lIns="0" tIns="0" rIns="0" bIns="0" anchor="t">
            <a:spAutoFit/>
          </a:bodyPr>
          <a:lstStyle/>
          <a:p>
            <a:pPr algn="ctr">
              <a:lnSpc>
                <a:spcPts val="1575"/>
              </a:lnSpc>
            </a:pPr>
            <a:r>
              <a:rPr sz="1050" b="0" i="0" u="none">
                <a:solidFill>
                  <a:srgbClr val="334155"/>
                </a:solidFill>
                <a:latin typeface="Inter"/>
              </a:rPr>
              <a:t>Updating structure using ALTER TABLE (Adding phone, dropping city).</a:t>
            </a:r>
            <a:endParaRPr sz="1050" b="0" i="0" u="none">
              <a:solidFill>
                <a:srgbClr val="334155"/>
              </a:solidFill>
              <a:latin typeface="Inter"/>
            </a:endParaRPr>
          </a:p>
        </p:txBody>
      </p:sp>
      <p:sp>
        <p:nvSpPr>
          <p:cNvPr id="16" name="TextBox 15"/>
          <p:cNvSpPr txBox="1"/>
          <p:nvPr/>
        </p:nvSpPr>
        <p:spPr>
          <a:xfrm>
            <a:off x="571500" y="476250"/>
            <a:ext cx="11601450" cy="428625"/>
          </a:xfrm>
          <a:prstGeom prst="rect">
            <a:avLst/>
          </a:prstGeom>
          <a:noFill/>
        </p:spPr>
        <p:txBody>
          <a:bodyPr wrap="square" lIns="0" tIns="0" rIns="0" bIns="0" anchor="t">
            <a:spAutoFit/>
          </a:bodyPr>
          <a:lstStyle/>
          <a:p>
            <a:pPr algn="l"/>
            <a:r>
              <a:rPr sz="2700" b="1" i="0" u="none">
                <a:solidFill>
                  <a:srgbClr val="0F172A"/>
                </a:solidFill>
                <a:latin typeface="Plus Jakarta Sans"/>
              </a:rPr>
              <a:t>Database Lifecycle Timeline</a:t>
            </a:r>
            <a:endParaRPr sz="2700" b="1" i="0" u="none">
              <a:solidFill>
                <a:srgbClr val="0F172A"/>
              </a:solidFill>
              <a:latin typeface="Plus Jakarta Sans"/>
            </a:endParaRPr>
          </a:p>
        </p:txBody>
      </p:sp>
      <p:sp>
        <p:nvSpPr>
          <p:cNvPr id="17" name="Rounded Rectangle 16"/>
          <p:cNvSpPr/>
          <p:nvPr/>
        </p:nvSpPr>
        <p:spPr>
          <a:xfrm>
            <a:off x="1737345" y="3681412"/>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3265" y="3681412"/>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9184" y="3681412"/>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245104" y="3681412"/>
            <a:ext cx="209550" cy="209550"/>
          </a:xfrm>
          <a:prstGeom prst="roundRect">
            <a:avLst>
              <a:gd name="adj" fmla="val 50000"/>
            </a:avLst>
          </a:prstGeom>
          <a:solidFill>
            <a:srgbClr val="FFFFFF"/>
          </a:solidFill>
          <a:ln w="381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 name="KSO_WM_UNIT_MEDIACOVER_BTNRECT" val="0*0*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1787</Words>
  <Application>WPS Presentation</Application>
  <PresentationFormat>On-screen Show (4:3)</PresentationFormat>
  <Paragraphs>68</Paragraphs>
  <Slides>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SimSun</vt:lpstr>
      <vt:lpstr>Wingdings</vt:lpstr>
      <vt:lpstr>Arial</vt:lpstr>
      <vt:lpstr>Plus Jakarta Sans</vt:lpstr>
      <vt:lpstr>Segoe Print</vt:lpstr>
      <vt:lpstr>Inter</vt:lpstr>
      <vt:lpstr>Plus Jakarta Sans SemiBold</vt:lpstr>
      <vt:lpstr>Plus Jakarta Sans ExtraBold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Weaam Elkhuly</cp:lastModifiedBy>
  <cp:revision>3</cp:revision>
  <dcterms:created xsi:type="dcterms:W3CDTF">2013-01-27T09:14:00Z</dcterms:created>
  <dcterms:modified xsi:type="dcterms:W3CDTF">2026-07-27T20:51:58Z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FB68BB80BFFF4AEBBD2A7643E5A06731_12</vt:lpwstr>
  </property>
</Properties>
</file>